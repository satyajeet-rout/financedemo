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InfraHive Consolidated P&amp;L – Detailed Board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on 16 May 2025 •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Revenue driven primarily by US and India entities; EU still small contributor.</a:t>
            </a:r>
          </a:p>
          <a:p>
            <a:pPr>
              <a:defRPr sz="1400"/>
            </a:pPr>
            <a:r>
              <a:t>Gross margin stands at 137.3%, indicating healthy product economics.</a:t>
            </a:r>
          </a:p>
          <a:p>
            <a:pPr>
              <a:defRPr sz="1400"/>
            </a:pPr>
            <a:r>
              <a:t>Operating rent expense represents -6.1% of revenue – within industry norms.</a:t>
            </a:r>
          </a:p>
          <a:p>
            <a:pPr>
              <a:defRPr sz="1400"/>
            </a:pPr>
            <a:r>
              <a:t>Inter‑company eliminations correctly offset, ensuring clean consolidated view.</a:t>
            </a:r>
          </a:p>
          <a:p>
            <a:pPr>
              <a:defRPr sz="1400"/>
            </a:pPr>
            <a:r>
              <a:t>Net profit margin at 56.6% provides headroom for reinvestment.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× Account Detail (Top Lines)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r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CanonicalAccount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NetINR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ELIM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IC_ELIM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IN01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IC_EXPENSE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IN01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OPEX_RENT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-135,000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IN01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300,000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US01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-1,660,000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US01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IC_REVENUE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US01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OPEX_RENT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-135,000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US01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4,150,000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Impact by Account</a:t>
            </a:r>
          </a:p>
        </p:txBody>
      </p:sp>
      <p:pic>
        <p:nvPicPr>
          <p:cNvPr id="3" name="Picture 2" descr="chart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Impact by Entity</a:t>
            </a:r>
          </a:p>
        </p:txBody>
      </p:sp>
      <p:pic>
        <p:nvPicPr>
          <p:cNvPr id="3" name="Picture 2" descr="chart_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vs COGS vs Gross Profit</a:t>
            </a:r>
          </a:p>
        </p:txBody>
      </p:sp>
      <p:pic>
        <p:nvPicPr>
          <p:cNvPr id="3" name="Picture 2" descr="chart_g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Ratios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Gross Margin: 137.3%</a:t>
            </a:r>
          </a:p>
          <a:p>
            <a:pPr>
              <a:defRPr sz="1400"/>
            </a:pPr>
            <a:r>
              <a:t>Net Margin: 56.6%</a:t>
            </a:r>
          </a:p>
          <a:p>
            <a:pPr>
              <a:defRPr sz="1400"/>
            </a:pPr>
            <a:r>
              <a:t>Rent‑to‑Revenue: -6.1%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Commentary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US01 continues to be the primary revenue engine; India operations provide cost leverage.</a:t>
            </a:r>
          </a:p>
          <a:p>
            <a:pPr>
              <a:defRPr sz="1400"/>
            </a:pPr>
            <a:r>
              <a:t>EU01 currently loss‑making due to ramp‑up costs; monitor break‑even timeline.</a:t>
            </a:r>
          </a:p>
          <a:p>
            <a:pPr>
              <a:defRPr sz="1400"/>
            </a:pPr>
            <a:r>
              <a:t>Operating expenses remain controlled; gross margin resilience reflects pricing power.</a:t>
            </a:r>
          </a:p>
          <a:p>
            <a:pPr>
              <a:defRPr sz="1400"/>
            </a:pPr>
            <a:r>
              <a:t>Recommend reinvesting a portion of net profits into EU market growth &amp; product R&amp;D.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